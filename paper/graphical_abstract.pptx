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649200" cy="50577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649200" cy="64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Geopolitical Oil Shocks and Sectoral Heterogeneity: Evidence on Market Transmission and Aggregation Masking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8000" y="792000"/>
            <a:ext cx="4072400" cy="396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846000"/>
            <a:ext cx="3856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75B6"/>
                </a:solidFill>
              </a:defRPr>
            </a:pPr>
            <a:r>
              <a:t>GEOPOLITICAL OIL SHOCKS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1260000"/>
            <a:ext cx="3856400" cy="33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  <a:defRPr sz="800" b="1">
                <a:solidFill>
                  <a:srgbClr val="1B3A5C"/>
                </a:solidFill>
              </a:defRPr>
            </a:pPr>
            <a:r>
              <a:t>5 Major Events: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700" b="0">
                <a:solidFill>
                  <a:srgbClr val="333333"/>
                </a:solidFill>
              </a:defRPr>
            </a:pPr>
            <a:r>
              <a:t>▸ Hormuz Crisis (2026)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700" b="0">
                <a:solidFill>
                  <a:srgbClr val="333333"/>
                </a:solidFill>
              </a:defRPr>
            </a:pPr>
            <a:r>
              <a:t>▸ Russia-Ukraine (2022)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700" b="0">
                <a:solidFill>
                  <a:srgbClr val="333333"/>
                </a:solidFill>
              </a:defRPr>
            </a:pPr>
            <a:r>
              <a:t>▸ OPEC+ Cut (2022)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700" b="0">
                <a:solidFill>
                  <a:srgbClr val="333333"/>
                </a:solidFill>
              </a:defRPr>
            </a:pPr>
            <a:r>
              <a:t>▸ Middle East (2023)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700" b="0">
                <a:solidFill>
                  <a:srgbClr val="333333"/>
                </a:solidFill>
              </a:defRPr>
            </a:pPr>
            <a:r>
              <a:t>▸ COVID Crash (2020)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400" b="0">
                <a:solidFill>
                  <a:srgbClr val="333333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200"/>
              </a:spcAft>
              <a:defRPr sz="800" b="1">
                <a:solidFill>
                  <a:srgbClr val="2E75B6"/>
                </a:solidFill>
              </a:defRPr>
            </a:pPr>
            <a:r>
              <a:t>34 Sector ETFs × 5 Events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800" b="1">
                <a:solidFill>
                  <a:srgbClr val="2E75B6"/>
                </a:solidFill>
              </a:defRPr>
            </a:pPr>
            <a:r>
              <a:t>= 170 Panel Observations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400" b="0">
                <a:solidFill>
                  <a:srgbClr val="333333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200"/>
              </a:spcAft>
              <a:defRPr sz="800" b="1">
                <a:solidFill>
                  <a:srgbClr val="1B3A5C"/>
                </a:solidFill>
              </a:defRPr>
            </a:pPr>
            <a:r>
              <a:t>Supply vs. Demand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800" b="1">
                <a:solidFill>
                  <a:srgbClr val="1B3A5C"/>
                </a:solidFill>
              </a:defRPr>
            </a:pPr>
            <a:r>
              <a:t>Classification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700" b="0">
                <a:solidFill>
                  <a:srgbClr val="333333"/>
                </a:solidFill>
              </a:defRPr>
            </a:pPr>
            <a:r>
              <a:t>(Kilian, 2009)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8400" y="792000"/>
            <a:ext cx="4072400" cy="396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96400" y="846000"/>
            <a:ext cx="3856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75B6"/>
                </a:solidFill>
              </a:defRPr>
            </a:pPr>
            <a:r>
              <a:t>HETEROGENEOUS TRANSMISSION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6400" y="1260000"/>
            <a:ext cx="3856400" cy="33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  <a:defRPr sz="800" b="1">
                <a:solidFill>
                  <a:srgbClr val="1B3A5C"/>
                </a:solidFill>
              </a:defRPr>
            </a:pPr>
            <a:r>
              <a:t>Oil Beta → Sectoral CARs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300" b="0">
                <a:solidFill>
                  <a:srgbClr val="333333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200"/>
              </a:spcAft>
              <a:defRPr sz="900" b="1">
                <a:solidFill>
                  <a:srgbClr val="C0392B"/>
                </a:solidFill>
              </a:defRPr>
            </a:pPr>
            <a:r>
              <a:t>γ₁ = +20.18 (p &lt; 0.001)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700" b="0">
                <a:solidFill>
                  <a:srgbClr val="333333"/>
                </a:solidFill>
              </a:defRPr>
            </a:pPr>
            <a:r>
              <a:t>Robust across 6 specifications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300" b="0">
                <a:solidFill>
                  <a:srgbClr val="333333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200"/>
              </a:spcAft>
              <a:defRPr sz="800" b="1">
                <a:solidFill>
                  <a:srgbClr val="1B3A5C"/>
                </a:solidFill>
              </a:defRPr>
            </a:pPr>
            <a:r>
              <a:t>Supply-Demand Asymmetry: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700" b="0">
                <a:solidFill>
                  <a:srgbClr val="27AE60"/>
                </a:solidFill>
              </a:defRPr>
            </a:pPr>
            <a:r>
              <a:t>Supply shocks → γ₁ &gt; 0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600" b="0">
                <a:solidFill>
                  <a:srgbClr val="333333"/>
                </a:solidFill>
              </a:defRPr>
            </a:pPr>
            <a:r>
              <a:t>  (sectors gain &amp; lose)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700" b="0">
                <a:solidFill>
                  <a:srgbClr val="C0392B"/>
                </a:solidFill>
              </a:defRPr>
            </a:pPr>
            <a:r>
              <a:t>Demand shock → γ₁ &lt; 0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600" b="0">
                <a:solidFill>
                  <a:srgbClr val="333333"/>
                </a:solidFill>
              </a:defRPr>
            </a:pPr>
            <a:r>
              <a:t>  (correlated losses)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800" b="1">
                <a:solidFill>
                  <a:srgbClr val="2E75B6"/>
                </a:solidFill>
              </a:defRPr>
            </a:pPr>
            <a:r>
              <a:t>Interaction: +58.79***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300" b="0">
                <a:solidFill>
                  <a:srgbClr val="333333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200"/>
              </a:spcAft>
              <a:defRPr sz="800" b="1">
                <a:solidFill>
                  <a:srgbClr val="1B3A5C"/>
                </a:solidFill>
              </a:defRPr>
            </a:pPr>
            <a:r>
              <a:t>Dynamic: effect builds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700" b="0">
                <a:solidFill>
                  <a:srgbClr val="333333"/>
                </a:solidFill>
              </a:defRPr>
            </a:pPr>
            <a:r>
              <a:t>t+1: +4.48 → t+15: +25.06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600" b="0">
                <a:solidFill>
                  <a:srgbClr val="333333"/>
                </a:solidFill>
              </a:defRPr>
            </a:pPr>
            <a:r>
              <a:t>(persistent reallocation)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68800" y="792000"/>
            <a:ext cx="4072400" cy="396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6800" y="846000"/>
            <a:ext cx="3856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75B6"/>
                </a:solidFill>
              </a:defRPr>
            </a:pPr>
            <a:r>
              <a:t>AGGREGATION MASKING (Ψ)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6800" y="1260000"/>
            <a:ext cx="3856400" cy="33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  <a:defRPr sz="800" b="1">
                <a:solidFill>
                  <a:srgbClr val="1B3A5C"/>
                </a:solidFill>
              </a:defRPr>
            </a:pPr>
            <a:r>
              <a:t>Index-Level Information Loss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300" b="0">
                <a:solidFill>
                  <a:srgbClr val="333333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200"/>
              </a:spcAft>
              <a:defRPr sz="900" b="1">
                <a:solidFill>
                  <a:srgbClr val="C0392B"/>
                </a:solidFill>
              </a:defRPr>
            </a:pPr>
            <a:r>
              <a:t>Crisis Ψ = 0.947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00" b="1">
                <a:solidFill>
                  <a:srgbClr val="2E75B6"/>
                </a:solidFill>
              </a:defRPr>
            </a:pPr>
            <a:r>
              <a:t>Placebo Ψ = 0.851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800" b="1">
                <a:solidFill>
                  <a:srgbClr val="1B3A5C"/>
                </a:solidFill>
              </a:defRPr>
            </a:pPr>
            <a:r>
              <a:t>+9.5 pp more masking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700" b="0">
                <a:solidFill>
                  <a:srgbClr val="333333"/>
                </a:solidFill>
              </a:defRPr>
            </a:pPr>
            <a:r>
              <a:t>during crises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300" b="0">
                <a:solidFill>
                  <a:srgbClr val="333333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200"/>
              </a:spcAft>
              <a:defRPr sz="700" b="0">
                <a:solidFill>
                  <a:srgbClr val="333333"/>
                </a:solidFill>
              </a:defRPr>
            </a:pPr>
            <a:r>
              <a:t>Crisis dispersion: 7.20 pp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700" b="0">
                <a:solidFill>
                  <a:srgbClr val="333333"/>
                </a:solidFill>
              </a:defRPr>
            </a:pPr>
            <a:r>
              <a:t>Normal dispersion: 3.67 pp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700" b="1">
                <a:solidFill>
                  <a:srgbClr val="C0392B"/>
                </a:solidFill>
              </a:defRPr>
            </a:pPr>
            <a:r>
              <a:t>Ratio: 2× larger during crises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300" b="0">
                <a:solidFill>
                  <a:srgbClr val="333333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200"/>
              </a:spcAft>
              <a:defRPr sz="800" b="1">
                <a:solidFill>
                  <a:srgbClr val="1B3A5C"/>
                </a:solidFill>
              </a:defRPr>
            </a:pPr>
            <a:r>
              <a:t>International Evidence: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700" b="0">
                <a:solidFill>
                  <a:srgbClr val="333333"/>
                </a:solidFill>
              </a:defRPr>
            </a:pPr>
            <a:r>
              <a:t>Energy import dependence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700" b="0">
                <a:solidFill>
                  <a:srgbClr val="333333"/>
                </a:solidFill>
              </a:defRPr>
            </a:pPr>
            <a:r>
              <a:t>predicts cross-country CARs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700" b="0">
                <a:solidFill>
                  <a:srgbClr val="333333"/>
                </a:solidFill>
              </a:defRPr>
            </a:pPr>
            <a:r>
              <a:t>(R² = 0.511, N = 14)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44400" y="2664000"/>
            <a:ext cx="180000" cy="216000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324800" y="2664000"/>
            <a:ext cx="180000" cy="216000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824000"/>
            <a:ext cx="12649200" cy="324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"/>
              </a:spcBef>
              <a:defRPr sz="700" i="1">
                <a:solidFill>
                  <a:srgbClr val="FFFFFF"/>
                </a:solidFill>
              </a:defRPr>
            </a:pPr>
            <a:r>
              <a:t>Key Implication: Aggregate indices systematically understate the economic impact of geopolitical shocks — policymakers and investors relying on index-level signals may substantially underestimate sectoral disruption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